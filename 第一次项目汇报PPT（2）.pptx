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61" r:id="rId5"/>
    <p:sldId id="258" r:id="rId6"/>
    <p:sldId id="259" r:id="rId7"/>
    <p:sldId id="26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FFDA"/>
    <a:srgbClr val="0C1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26" y="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大家好，欢迎来到我们的项目汇报。今天，我们将向大家展示我们的大三软件项目管理课程的成果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WolfMind，一个基于多智能体技术的狼人杀AI游戏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这个项目呢？首先，我们观察到很多玩家因为社恐等原因，不太愿意在狼人杀中开麦交流，所以我们希望提供一个AI对手，让他们也能享受游戏。其次，我们也想做一个“电子斗蛐蛐”的平台，让大家能看到AI之间的精彩博弈。当然，最重要的是，这是一次非常有价值的技术探索，让我们深入研究多智能体系统在复杂策略游戏中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4C6B-37E6-03FB-272F-FEAD2085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540C8E-6080-6FEC-6A33-E22B597E71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77320-ABCA-27EA-EABD-29B92A2D92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63112C-0B75-2C92-E5BE-318D6DDA8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42A396-A36D-6B18-F360-F985AD8FF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我们做的是一个基于大语言模型（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LLM）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和多智能体框架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AgentScope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构建的狼人杀游戏系统。开局由人类玩家选择一个角色，其他玩家由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 agent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担任，开展游戏。通过自然语言进行推理、讨论、投票，进行人类与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的策略博弈和社交推理，并提供 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Web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控制台用于启动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/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停止游戏与实时查看对局日志。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15D43-AF8E-75E4-D253-F7A2C4BB09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4E552-2214-1714-083B-039652C11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4947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们遇到了几个核心的技术难点。首先是如何让9个AI智能体自主协作或对抗。其次，狼人杀的核心在于信息不对称，我们必须严格做好信息隔离。第三，AI需要理解复杂的自然语言对话，这对LLM的能力是个考验。第四，我们需要精准控制整个游戏流程。最后，还要实现流畅的人机交互界面。这些都是我们需要解决的关键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系统架构和技术栈。我们采用了前后端分离的设计，前端基于Vue3，后端使用FastAPI。核心的多智能体逻辑由AgentScope框架和LLM模型驱动。这张流程图清晰地展示了从用户交互到游戏核心逻辑，再到数据分析的整个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最后，总结一下我们的项目成果：我们成功构建了一个功能完整的AI狼人杀游戏。展望未来，我们希望能让AI变得更聪明，玩法更多样，并探索AI自我学习的可能性。我们的汇报到此结束，感谢大家的聆听！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7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6.jpeg"/><Relationship Id="rId2" Type="http://schemas.openxmlformats.org/officeDocument/2006/relationships/tags" Target="../tags/tag2.xml"/><Relationship Id="rId16" Type="http://schemas.openxmlformats.org/officeDocument/2006/relationships/image" Target="../media/image5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4.jpe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5.xml"/><Relationship Id="rId7" Type="http://schemas.openxmlformats.org/officeDocument/2006/relationships/image" Target="../media/image4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.sv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11" Type="http://schemas.openxmlformats.org/officeDocument/2006/relationships/image" Target="../media/image23.svg"/><Relationship Id="rId5" Type="http://schemas.openxmlformats.org/officeDocument/2006/relationships/image" Target="../media/image17.jpeg"/><Relationship Id="rId15" Type="http://schemas.openxmlformats.org/officeDocument/2006/relationships/image" Target="../media/image25.sv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image" Target="../media/image21.sv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30.jpe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29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28.jpeg"/><Relationship Id="rId5" Type="http://schemas.openxmlformats.org/officeDocument/2006/relationships/tags" Target="../tags/tag21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20.xml"/><Relationship Id="rId9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651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64FFDA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WolfAgents</a:t>
            </a: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</a:t>
            </a:r>
            <a:r>
              <a:rPr lang="en-US" altLang="zh-CN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LLM </a:t>
            </a:r>
            <a:r>
              <a:rPr lang="zh-CN" alt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altLang="zh-CN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Vue </a:t>
            </a:r>
            <a:r>
              <a:rPr lang="zh-CN" alt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的多</a:t>
            </a:r>
            <a:r>
              <a:rPr lang="en-US" altLang="zh-CN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Agent </a:t>
            </a:r>
            <a:r>
              <a:rPr lang="zh-CN" alt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狼人杀对战平台</a:t>
            </a:r>
          </a:p>
        </p:txBody>
      </p:sp>
      <p:sp>
        <p:nvSpPr>
          <p:cNvPr id="6" name="AutoShape 6"/>
          <p:cNvSpPr/>
          <p:nvPr/>
        </p:nvSpPr>
        <p:spPr>
          <a:xfrm>
            <a:off x="5334000" y="3302000"/>
            <a:ext cx="1524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zh-CN" altLang="en-US" sz="2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endParaRPr lang="zh-CN" altLang="en-US" sz="2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第一次课程实践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</a:p>
          <a:p>
            <a:pPr indent="0" algn="ctr">
              <a:lnSpc>
                <a:spcPct val="125000"/>
              </a:lnSpc>
              <a:defRPr/>
            </a:pPr>
            <a:endParaRPr lang="en-US" sz="2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chemeClr val="bg1"/>
                </a:solidFill>
                <a:ea typeface="宋体" panose="02010600030101010101" pitchFamily="2" charset="-122"/>
              </a:rPr>
              <a:t>小组成员：陈顾漪、吴雅卓、王捷</a:t>
            </a:r>
          </a:p>
        </p:txBody>
      </p:sp>
      <p:sp>
        <p:nvSpPr>
          <p:cNvPr id="8" name="AutoShape 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92F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0A192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项目背景与动机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19050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889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社恐友好</a:t>
            </a:r>
            <a:endParaRPr lang="en-US" sz="1100" dirty="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890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为不喜欢开麦社交的玩家提供AI对手，无需语音交流即可享受游戏乐趣。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55880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572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电子斗蛐蛐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5720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观看AI智能体之间的策略博弈，体验“电子斗蛐蛐”的独特快感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92710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技术探索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2550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探索多智能体系统在复杂策略游戏中的应用与挑战，验证LLM博弈能力。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EFEB8-66D1-1C42-7441-425F1A1E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3F6AD9E-1591-728B-8569-55A6499CF27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7984B8BD-47B3-42D4-BF80-3F88660E59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D323B14-8D03-42CE-ED7D-C2FA0FFBB23E}"/>
              </a:ext>
            </a:extLst>
          </p:cNvPr>
          <p:cNvSpPr/>
          <p:nvPr/>
        </p:nvSpPr>
        <p:spPr>
          <a:xfrm>
            <a:off x="762000" y="1016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核心玩法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8F5BE5F-4B97-ED7C-5F6D-C417A386A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75" y="1824581"/>
            <a:ext cx="6210990" cy="4564296"/>
          </a:xfrm>
          <a:prstGeom prst="rect">
            <a:avLst/>
          </a:prstGeom>
        </p:spPr>
      </p:pic>
      <p:sp>
        <p:nvSpPr>
          <p:cNvPr id="17" name="AutoShape 12">
            <a:extLst>
              <a:ext uri="{FF2B5EF4-FFF2-40B4-BE49-F238E27FC236}">
                <a16:creationId xmlns:a16="http://schemas.microsoft.com/office/drawing/2014/main" id="{91DC0CCD-2024-F362-93D3-4EF0D1A6AF7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580120" y="2205581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一名人类玩家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8</a:t>
            </a:r>
            <a:r>
              <a:rPr lang="zh-CN" altLang="en-US" sz="1600" dirty="0">
                <a:solidFill>
                  <a:schemeClr val="bg1"/>
                </a:solidFill>
              </a:rPr>
              <a:t>个</a:t>
            </a:r>
            <a:r>
              <a:rPr lang="en-US" altLang="zh-CN" sz="1600" dirty="0">
                <a:solidFill>
                  <a:schemeClr val="bg1"/>
                </a:solidFill>
              </a:rPr>
              <a:t>ai agent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9EEF5041-D819-C802-C23B-78A86D08A49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26533" y="1824581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</a:rPr>
              <a:t>玩家构成：</a:t>
            </a:r>
            <a:r>
              <a:rPr lang="en-US" altLang="zh-CN" sz="2000" b="1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</a:rPr>
              <a:t>1+8</a:t>
            </a:r>
            <a:r>
              <a:rPr lang="zh-CN" altLang="en-US" sz="2000" b="1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</a:rPr>
              <a:t>混合博弈</a:t>
            </a:r>
            <a:endParaRPr lang="en-US" altLang="zh-CN" sz="2000" b="1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204EDA6D-B4D3-B1D9-BA95-088D8E6504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26533" y="370928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</a:rPr>
              <a:t>游戏流程：</a:t>
            </a:r>
            <a:endParaRPr lang="en-US" altLang="zh-CN" sz="2000" b="1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206DD3D6-3F8D-516C-30C5-A8DFDD5A83E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26533" y="4090284"/>
            <a:ext cx="4225992" cy="16168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人类玩家选择角色，</a:t>
            </a:r>
            <a:r>
              <a:rPr lang="en-US" altLang="zh-CN" sz="1600" dirty="0">
                <a:solidFill>
                  <a:schemeClr val="bg1"/>
                </a:solidFill>
              </a:rPr>
              <a:t>ai</a:t>
            </a:r>
            <a:r>
              <a:rPr lang="zh-CN" altLang="en-US" sz="1600" dirty="0">
                <a:solidFill>
                  <a:schemeClr val="bg1"/>
                </a:solidFill>
              </a:rPr>
              <a:t>扮演剩余角色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夜晚行动 </a:t>
            </a:r>
            <a:r>
              <a:rPr lang="en-US" altLang="zh-CN" sz="1600" dirty="0">
                <a:solidFill>
                  <a:schemeClr val="bg1"/>
                </a:solidFill>
              </a:rPr>
              <a:t>-&gt; </a:t>
            </a:r>
            <a:r>
              <a:rPr lang="zh-CN" altLang="en-US" sz="1600" dirty="0">
                <a:solidFill>
                  <a:schemeClr val="bg1"/>
                </a:solidFill>
              </a:rPr>
              <a:t>白天讨论 </a:t>
            </a:r>
            <a:r>
              <a:rPr lang="en-US" altLang="zh-CN" sz="1600" dirty="0">
                <a:solidFill>
                  <a:schemeClr val="bg1"/>
                </a:solidFill>
              </a:rPr>
              <a:t>-&gt; </a:t>
            </a:r>
            <a:r>
              <a:rPr lang="zh-CN" altLang="en-US" sz="1600" dirty="0">
                <a:solidFill>
                  <a:schemeClr val="bg1"/>
                </a:solidFill>
              </a:rPr>
              <a:t>投票出局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循环直至分出胜负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游戏过程中，可以实时查看对局日志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08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游戏结束后，生成基于日志的深度数据分析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5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核心技术难点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多Agent协作与对抗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374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zh-CN" alt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个AI智能体需根据角色自主决策，狼人协作，好人对抗，模拟真实博弈。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43200" y="2159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3782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8702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信息隔离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870200" y="374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严格维护游戏信息不对称，保护私密查验结果，确保策略公平性。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78400" y="2159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6134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1054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复杂对话理解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05400" y="374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AI需理解发言并提取信息，进行逻辑推理、欺骗伪装与话术博弈。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13600" y="2159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8486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3406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流程控制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40600" y="374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精准模拟完整游戏流程，涵盖夜晚行动、白天发言及投票环节。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48800" y="2159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083800" y="2413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95758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人机交互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75800" y="374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提供直观Web界面，支持真人玩家无缝加入，与AI智能体实时互动。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系统架构与流程</a:t>
            </a:r>
            <a:endParaRPr lang="en-US" sz="1100" dirty="0">
              <a:solidFill>
                <a:srgbClr val="64FFDA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81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9000" y="2540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651000" y="2476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AgentScope &amp; LLM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多智能体框架与AI大脑驱动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381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9000" y="3556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651000" y="3492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高性能异步后端API构建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381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89000" y="4572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651000" y="4508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Vue3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现代化响应式前端界面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381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89000" y="5588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1651000" y="5524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核心业务逻辑实现语言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334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4000" y="2413000"/>
            <a:ext cx="6096000" cy="3048000"/>
          </a:xfrm>
          <a:prstGeom prst="roundRect">
            <a:avLst>
              <a:gd name="adj" fmla="val 4166"/>
            </a:avLst>
          </a:prstGeom>
          <a:solidFill>
            <a:srgbClr val="0A192F">
              <a:alpha val="5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588000" y="2794000"/>
            <a:ext cx="1270000" cy="762000"/>
          </a:xfrm>
          <a:prstGeom prst="roundRect">
            <a:avLst>
              <a:gd name="adj" fmla="val 8333"/>
            </a:avLst>
          </a:prstGeom>
          <a:solidFill>
            <a:srgbClr val="1E3A8A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70600" y="285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588000" y="32385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5925">
            <a:off x="6921579" y="3168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7493000" y="2794000"/>
            <a:ext cx="1270000" cy="762000"/>
          </a:xfrm>
          <a:prstGeom prst="roundRect">
            <a:avLst>
              <a:gd name="adj" fmla="val 8333"/>
            </a:avLst>
          </a:prstGeom>
          <a:solidFill>
            <a:srgbClr val="1E3A8A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75600" y="2857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3000" y="32385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WebSocket通信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5925">
            <a:off x="8826579" y="3168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8" name="AutoShape 28"/>
          <p:cNvSpPr/>
          <p:nvPr/>
        </p:nvSpPr>
        <p:spPr>
          <a:xfrm>
            <a:off x="9398000" y="2794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1E3A8A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07600" y="2857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398000" y="3238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游戏引擎核心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285450">
            <a:off x="9969500" y="3803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32" name="AutoShape 32"/>
          <p:cNvSpPr/>
          <p:nvPr/>
        </p:nvSpPr>
        <p:spPr>
          <a:xfrm>
            <a:off x="5588000" y="4064000"/>
            <a:ext cx="5334000" cy="762000"/>
          </a:xfrm>
          <a:prstGeom prst="roundRect">
            <a:avLst>
              <a:gd name="adj" fmla="val 8333"/>
            </a:avLst>
          </a:prstGeom>
          <a:solidFill>
            <a:srgbClr val="1E3A8A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42000" y="4292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223000" y="4292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AI智能体管理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314074">
            <a:off x="7620000" y="4438729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6" name="Picture 3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28000" y="42926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09000" y="4292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全流程日志记录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334000" y="5715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采用前后端分离架构，通过实时通信保障低延迟交互，后端引擎统一调度AI与游戏逻辑。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-1270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4445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 dirty="0">
              <a:solidFill>
                <a:srgbClr val="64FFDA"/>
              </a:solidFill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066800" y="18288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20320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66800" y="2794000"/>
            <a:ext cx="447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基于LLM的多Agent狼人杀游戏，支持人机对战和纯AI对战模式，具备完整的游戏流程、角色系统和数据分析能力。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A5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6654800" y="18288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76200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 dirty="0">
              <a:solidFill>
                <a:srgbClr val="64FFDA"/>
              </a:solidFill>
            </a:endParaR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654800" y="2794000"/>
            <a:ext cx="44704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我们计划进一步优化AI的策略水平，提升Web界面的交互体验，</a:t>
            </a:r>
            <a:r>
              <a:rPr lang="zh-CN" alt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提高前端的美化程度，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并探索AI玩家通过自我对弈进行学习和进化的可能性。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A500">
                  <a:alpha val="0"/>
                </a:srgbClr>
              </a:gs>
              <a:gs pos="50000">
                <a:srgbClr val="FFA500">
                  <a:alpha val="100000"/>
                </a:srgbClr>
              </a:gs>
              <a:gs pos="100000">
                <a:srgbClr val="FFA5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感谢大家的聆听与支持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60,&quot;top&quot;:160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450</Words>
  <Application>Microsoft Office PowerPoint</Application>
  <PresentationFormat>宽屏</PresentationFormat>
  <Paragraphs>75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Noto Sans SC</vt:lpstr>
      <vt:lpstr>宋体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洽 夏</cp:lastModifiedBy>
  <cp:revision>3</cp:revision>
  <dcterms:created xsi:type="dcterms:W3CDTF">2026-03-25T12:52:40Z</dcterms:created>
  <dcterms:modified xsi:type="dcterms:W3CDTF">2026-03-25T13:15:32Z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621F7552124743048B2EE412602F6103_12</vt:lpwstr>
  </property>
</Properties>
</file>